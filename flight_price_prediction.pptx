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Prix moyen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80C5"/>
              </a:solidFill>
              <a:effectLst/>
            </c:spPr>
          </c:dPt>
          <c:dPt>
            <c:idx val="1"/>
            <c:bubble3D val="0"/>
            <c:spPr>
              <a:solidFill>
                <a:srgbClr val="1A4A7A"/>
              </a:solidFill>
              <a:effectLst/>
            </c:spPr>
          </c:dPt>
          <c:dPt>
            <c:idx val="2"/>
            <c:bubble3D val="0"/>
            <c:spPr>
              <a:solidFill>
                <a:srgbClr val="F4882A"/>
              </a:solidFill>
              <a:effectLst/>
            </c:spPr>
          </c:dPt>
          <c:dPt>
            <c:idx val="3"/>
            <c:bubble3D val="0"/>
            <c:spPr>
              <a:solidFill>
                <a:srgbClr val="1A8A5A"/>
              </a:solidFill>
              <a:effectLst/>
            </c:spPr>
          </c:dPt>
          <c:dPt>
            <c:idx val="4"/>
            <c:bubble3D val="0"/>
            <c:spPr>
              <a:solidFill>
                <a:srgbClr val="0D1F3C"/>
              </a:solidFill>
              <a:effectLst/>
            </c:spPr>
          </c:dPt>
          <c:dPt>
            <c:idx val="5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AirAsia</c:v>
                </c:pt>
                <c:pt idx="1">
                  <c:v>Indigo</c:v>
                </c:pt>
                <c:pt idx="2">
                  <c:v>SpiceJet</c:v>
                </c:pt>
                <c:pt idx="3">
                  <c:v>Vistara</c:v>
                </c:pt>
                <c:pt idx="4">
                  <c:v>Air India</c:v>
                </c:pt>
                <c:pt idx="5">
                  <c:v>GO FIRST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5200</c:v>
                </c:pt>
                <c:pt idx="1">
                  <c:v>5400</c:v>
                </c:pt>
                <c:pt idx="2">
                  <c:v>5100</c:v>
                </c:pt>
                <c:pt idx="3">
                  <c:v>9800</c:v>
                </c:pt>
                <c:pt idx="4">
                  <c:v>9500</c:v>
                </c:pt>
                <c:pt idx="5">
                  <c:v>6300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 moyen (INR)</c:v>
                </c:pt>
              </c:strCache>
            </c:strRef>
          </c:tx>
          <c:spPr>
            <a:solidFill>
              <a:srgbClr val="F488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 2h</c:v>
                  </c:pt>
                  <c:pt idx="1">
                    <c:v>2-4h</c:v>
                  </c:pt>
                  <c:pt idx="2">
                    <c:v>4-6h</c:v>
                  </c:pt>
                  <c:pt idx="3">
                    <c:v>6-10h</c:v>
                  </c:pt>
                  <c:pt idx="4">
                    <c:v>&gt; 10h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</c:v>
                </c:pt>
                <c:pt idx="1">
                  <c:v>6200</c:v>
                </c:pt>
                <c:pt idx="2">
                  <c:v>8100</c:v>
                </c:pt>
                <c:pt idx="3">
                  <c:v>10500</c:v>
                </c:pt>
                <c:pt idx="4">
                  <c:v>14300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F80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MAE</c:v>
                  </c:pt>
                  <c:pt idx="1">
                    <c:v>RMSE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1083</c:v>
                </c:pt>
                <c:pt idx="1">
                  <c:v>2786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F488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MAE</c:v>
                  </c:pt>
                  <c:pt idx="1">
                    <c:v>RMSE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2332</c:v>
                </c:pt>
                <c:pt idx="1">
                  <c:v>4109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194560" cy="2194560"/>
          </a:xfrm>
          <a:prstGeom prst="ellipse">
            <a:avLst/>
          </a:prstGeom>
          <a:solidFill>
            <a:srgbClr val="1A4A7A">
              <a:alpha val="30000"/>
            </a:srgbClr>
          </a:solidFill>
          <a:ln w="12700">
            <a:solidFill>
              <a:srgbClr val="1A4A7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2F80C5">
              <a:alpha val="20000"/>
            </a:srgbClr>
          </a:solidFill>
          <a:ln w="12700">
            <a:solidFill>
              <a:srgbClr val="2F80C5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882A"/>
                </a:solidFill>
              </a:rPr>
              <a:t>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882A"/>
                </a:solidFill>
              </a:rPr>
              <a:t>MACHINE LEARNING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Prédiction du Prix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des Billets d'Avion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4FD"/>
                </a:solidFill>
              </a:rPr>
              <a:t>Analyse exploratoire · Tests statistiques · Modélisation ML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300 000+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Réservations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Variables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Compagnies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&lt; 15 €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Objectif MAE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📊  Dataset &amp; Analyse Exploratoire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</a:rPr>
              <a:t>Vue d'ensemble du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367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Entrées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636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300 153 réservations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20824"/>
            <a:ext cx="3840480" cy="347472"/>
          </a:xfrm>
          <a:prstGeom prst="rect">
            <a:avLst/>
          </a:prstGeom>
          <a:solidFill>
            <a:srgbClr val="EB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Colonnes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12 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41448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Cible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478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price (INR)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862072"/>
            <a:ext cx="3840480" cy="347472"/>
          </a:xfrm>
          <a:prstGeom prst="rect">
            <a:avLst/>
          </a:prstGeom>
          <a:solidFill>
            <a:srgbClr val="EB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98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Discrètes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days_left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82696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19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Continues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duration, price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3840480" cy="347472"/>
          </a:xfrm>
          <a:prstGeom prst="rect">
            <a:avLst/>
          </a:prstGeom>
          <a:solidFill>
            <a:srgbClr val="EB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39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Catégorielles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airline, city, class…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123944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Valeurs manq.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Aucune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097280"/>
            <a:ext cx="425196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A"/>
                </a:solidFill>
              </a:rPr>
              <a:t>🏙  Villes (6 sources &amp; destinations)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1508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Delhi · Mumbai · Bangalore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Kolkata · Hyderabad · Chennai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A"/>
                </a:solidFill>
              </a:rPr>
              <a:t>✈  Compagnies aériennes (6)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2423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SpiceJet · AirAsia · Vistara · GO_FIRST · Indigo · Air_India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834640"/>
            <a:ext cx="4251960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907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82A"/>
                </a:solidFill>
              </a:rPr>
              <a:t>🕐  Horaires de départ / arrivée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200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Early Morning · Morning · Afternoon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Evening · Night · Late Night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977640"/>
            <a:ext cx="4251960" cy="685800"/>
          </a:xfrm>
          <a:prstGeom prst="rect">
            <a:avLst/>
          </a:prstGeom>
          <a:solidFill>
            <a:srgbClr val="F0FFF5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A5A"/>
                </a:solidFill>
              </a:rPr>
              <a:t>🔀  Escales : zero / one / two_or_more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4343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Classe : Economy &amp; Business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🔬  Tests Statistiques &amp; Hypothèses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069080" cy="502920"/>
          </a:xfrm>
          <a:prstGeom prst="rect">
            <a:avLst/>
          </a:prstGeom>
          <a:solidFill>
            <a:srgbClr val="2F80C5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ANOVA — Compagnie vs Prix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Hypothèses :
</a:t>
            </a:r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H₀ : Aucune relation compagnie ↔ prix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H₁ : Relation significative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Résultat :
</a:t>
            </a:r>
            <a:pPr indent="0" marL="0">
              <a:buNone/>
            </a:pPr>
            <a:r>
              <a:rPr lang="en-US" sz="1100" b="1" dirty="0">
                <a:solidFill>
                  <a:srgbClr val="1A8A5A"/>
                </a:solidFill>
              </a:rPr>
              <a:t>p-value = 0.000 (&lt; 0.05)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8A5A"/>
                </a:solidFill>
              </a:rPr>
              <a:t>✅ H₀ rejetée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Conclusion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45"/>
                </a:solidFill>
              </a:rPr>
              <a:t>La compagnie aérienne a un impact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B45"/>
                </a:solidFill>
              </a:rPr>
              <a:t>statistiquement significatif sur le prix.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3794760"/>
          <a:ext cx="365760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1097280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4069080" cy="502920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1338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Pearson — Durée vs Prix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16916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Hypothèses :
</a:t>
            </a:r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H₀ : Aucune corrélation durée ↔ prix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H₁ : Corrélation linéaire significative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Résultat :
</a:t>
            </a:r>
            <a:pPr indent="0" marL="0">
              <a:buNone/>
            </a:pPr>
            <a:r>
              <a:rPr lang="en-US" sz="1100" b="1" dirty="0">
                <a:solidFill>
                  <a:srgbClr val="1A8A5A"/>
                </a:solidFill>
              </a:rPr>
              <a:t>p-value = 0.000 (&lt; 0.05)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8A5A"/>
                </a:solidFill>
              </a:rPr>
              <a:t>r = 0.288  ✅ H₀ rejetée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Conclusion 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92040" y="3246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45"/>
                </a:solidFill>
              </a:rPr>
              <a:t>Corrélation positive modérée 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B45"/>
                </a:solidFill>
              </a:rPr>
              <a:t>les vols plus longs coûtent davantage.</a:t>
            </a:r>
            <a:endParaRPr lang="en-US" sz="11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4800600" y="3794760"/>
          <a:ext cx="384048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⚙️  Pipeline de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920240" cy="457200"/>
          </a:xfrm>
          <a:prstGeom prst="rect">
            <a:avLst/>
          </a:prstGeom>
          <a:solidFill>
            <a:srgbClr val="2F80C5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0C5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</a:rPr>
              <a:t>Encodage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</a:rPr>
              <a:t>Ordinal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stops → 0 / 1 /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horaires → 1 à 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972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097280"/>
            <a:ext cx="192024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A7A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87752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</a:rPr>
              <a:t>Encodage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</a:rPr>
              <a:t>One-Hot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651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airline, source_city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dest_city, class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72584" y="10972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097280"/>
            <a:ext cx="1920240" cy="457200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12664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664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882A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64024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</a:rPr>
              <a:t>Suppression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</a:rPr>
              <a:t>col. inutiles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4024" y="2651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flight (1 561 val.)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id (identifiant)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48856" y="10972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097280"/>
            <a:ext cx="1920240" cy="45720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88936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8A5A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40296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</a:rPr>
              <a:t>Split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</a:rPr>
              <a:t>Train / Test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0296" y="2651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80% Train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20% Test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40280" y="2514600"/>
            <a:ext cx="256032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416552" y="2514600"/>
            <a:ext cx="256032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592824" y="2514600"/>
            <a:ext cx="256032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20040" y="4206240"/>
            <a:ext cx="850392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A"/>
                </a:solidFill>
              </a:rPr>
              <a:t>Résultat final du preprocessing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53542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Dataset encodé prêt pour la modélisation · Aucune valeur manquante · Variables normalisées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🤖  Modélisation &amp; Résultats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20624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F80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206240" cy="475488"/>
          </a:xfrm>
          <a:prstGeom prst="rect">
            <a:avLst/>
          </a:prstGeom>
          <a:solidFill>
            <a:srgbClr val="2F80C5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Random Forest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38404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MAE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A5A"/>
                </a:solidFill>
              </a:rPr>
              <a:t>1 083 INR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258568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RMSE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331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</a:rPr>
              <a:t>2 786 INR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38404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R²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2926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A5A"/>
                </a:solidFill>
              </a:rPr>
              <a:t>98.49 %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080"/>
                </a:solidFill>
              </a:rPr>
              <a:t>n_estimators=100 · random_state=42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51560"/>
            <a:ext cx="4206240" cy="475488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0789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XGBoost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664208"/>
            <a:ext cx="38404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MAE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</a:rPr>
              <a:t>2 332 INR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2258568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RMSE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331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</a:rPr>
              <a:t>4 109 INR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852928"/>
            <a:ext cx="38404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R²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926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</a:rPr>
              <a:t>96.73 %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080"/>
                </a:solidFill>
              </a:rPr>
              <a:t>n_estimators=100 · lr=0.1 · max_depth=6</a:t>
            </a:r>
            <a:endParaRPr lang="en-US" sz="9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320040" y="3886200"/>
          <a:ext cx="850392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1A4A7A">
              <a:alpha val="25000"/>
            </a:srgbClr>
          </a:solidFill>
          <a:ln w="12700">
            <a:solidFill>
              <a:srgbClr val="1A4A7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F80C5">
              <a:alpha val="20000"/>
            </a:srgbClr>
          </a:solidFill>
          <a:ln w="12700">
            <a:solidFill>
              <a:srgbClr val="2F80C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🏁  Conclusion &amp; Bilan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029200" cy="1143000"/>
          </a:xfrm>
          <a:prstGeom prst="rect">
            <a:avLst/>
          </a:prstGeom>
          <a:solidFill>
            <a:srgbClr val="1A8A5A">
              <a:alpha val="85000"/>
            </a:srgbClr>
          </a:solidFill>
          <a:ln w="19050">
            <a:solidFill>
              <a:srgbClr val="1A8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Meilleur modèle : Random Forest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MAE = 1 083 INR  ·  R² = 98.49 %  ·  Objectif métier atteint 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82A"/>
                </a:solidFill>
              </a:rPr>
              <a:t>Points clés 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📌  La compagnie a un impact fort sur le prix (ANOVA, p=0.000)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980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📌  Durée du vol corrélée positivement au prix (r = 0.288)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📌  Encodage ordinal pour stops &amp; horaires, One-Hot pour les nominaux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37856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📌  Random Forest surpasse XGBoost sur MAE et RMSE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914400"/>
            <a:ext cx="3200400" cy="1737360"/>
          </a:xfrm>
          <a:prstGeom prst="rect">
            <a:avLst/>
          </a:prstGeom>
          <a:solidFill>
            <a:srgbClr val="1A4A7A">
              <a:alpha val="70000"/>
            </a:srgbClr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0972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882A"/>
                </a:solidFill>
              </a:rPr>
              <a:t>98.5%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669280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F4FD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926080"/>
            <a:ext cx="3200400" cy="1737360"/>
          </a:xfrm>
          <a:prstGeom prst="rect">
            <a:avLst/>
          </a:prstGeom>
          <a:solidFill>
            <a:srgbClr val="1A4A7A">
              <a:alpha val="70000"/>
            </a:srgbClr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108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882A"/>
                </a:solidFill>
              </a:rPr>
              <a:t>1 083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566928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MAE (INR)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F4FD"/>
                </a:solidFill>
              </a:rPr>
              <a:t>Erreur moyenne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7548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Machine Learning · Prédiction du Prix des Billets d'Avion  |  Dataset: 300 153 réservations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— Prédiction du Prix des Billets d'Avion</dc:title>
  <dc:subject>PptxGenJS Presentation</dc:subject>
  <dc:creator>PptxGenJS</dc:creator>
  <cp:lastModifiedBy>PptxGenJS</cp:lastModifiedBy>
  <cp:revision>1</cp:revision>
  <dcterms:created xsi:type="dcterms:W3CDTF">2026-04-25T13:18:36Z</dcterms:created>
  <dcterms:modified xsi:type="dcterms:W3CDTF">2026-04-25T13:18:36Z</dcterms:modified>
</cp:coreProperties>
</file>